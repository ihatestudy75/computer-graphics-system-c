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entury Gothic Paneuropean Bold" charset="1" panose="020B0702020202020204"/>
      <p:regular r:id="rId19"/>
    </p:embeddedFont>
    <p:embeddedFont>
      <p:font typeface="Century Gothic Paneuropean" charset="1" panose="020B0502020202020204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Relationship Id="rId5" Target="../media/VAHHzn00Wqo.mp4" Type="http://schemas.openxmlformats.org/officeDocument/2006/relationships/video"/><Relationship Id="rId6" Target="../media/VAHHzn00Wqo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jpeg" Type="http://schemas.openxmlformats.org/officeDocument/2006/relationships/image"/><Relationship Id="rId5" Target="../media/VAHHzp00ZzY.mp4" Type="http://schemas.openxmlformats.org/officeDocument/2006/relationships/video"/><Relationship Id="rId6" Target="../media/VAHHzp00ZzY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jpeg" Type="http://schemas.openxmlformats.org/officeDocument/2006/relationships/image"/><Relationship Id="rId5" Target="../media/VAHHzowDZbI.mp4" Type="http://schemas.openxmlformats.org/officeDocument/2006/relationships/video"/><Relationship Id="rId6" Target="../media/VAHHzowDZbI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jpeg" Type="http://schemas.openxmlformats.org/officeDocument/2006/relationships/image"/><Relationship Id="rId5" Target="../media/VAHHzt7UJw8.mp4" Type="http://schemas.openxmlformats.org/officeDocument/2006/relationships/video"/><Relationship Id="rId6" Target="../media/VAHHzt7UJw8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jpeg" Type="http://schemas.openxmlformats.org/officeDocument/2006/relationships/image"/><Relationship Id="rId5" Target="../media/VAHHzpCgPSI.mp4" Type="http://schemas.openxmlformats.org/officeDocument/2006/relationships/video"/><Relationship Id="rId6" Target="../media/VAHHzpCgPSI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1950" y="2371609"/>
            <a:ext cx="14124101" cy="377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BUILDING A SOFTWA</a:t>
            </a:r>
            <a:r>
              <a:rPr lang="en-US" b="true" sz="7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 RENDERING SYSTEM FROM SCRATCH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84637" y="6239756"/>
            <a:ext cx="8522150" cy="105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Yufan Wang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884637" y="7441280"/>
            <a:ext cx="852215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wang.y51@northeastern.edu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1693058"/>
            <a:ext cx="8537178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10560" y="3481136"/>
            <a:ext cx="10198461" cy="507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Showcase 1 — Three-lamp Scene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Showcase 2 — Parallax Animation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Showcase 3 — Planet Solar System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Showcase 4 — Shading Comparison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Showcase 5 — Marble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Showcase 6 — Other</a:t>
            </a:r>
          </a:p>
          <a:p>
            <a:pPr algn="l" marL="785932" indent="-392966" lvl="1">
              <a:lnSpc>
                <a:spcPts val="5096"/>
              </a:lnSpc>
              <a:buAutoNum type="arabicPeriod" startAt="1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Reflection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764888" y="2781681"/>
            <a:ext cx="10758224" cy="6750786"/>
          </a:xfrm>
          <a:custGeom>
            <a:avLst/>
            <a:gdLst/>
            <a:ahLst/>
            <a:cxnLst/>
            <a:rect r="r" b="b" t="t" l="l"/>
            <a:pathLst>
              <a:path h="6750786" w="10758224">
                <a:moveTo>
                  <a:pt x="0" y="0"/>
                </a:moveTo>
                <a:lnTo>
                  <a:pt x="10758224" y="0"/>
                </a:lnTo>
                <a:lnTo>
                  <a:pt x="10758224" y="6750785"/>
                </a:lnTo>
                <a:lnTo>
                  <a:pt x="0" y="675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THREE-LAMP SCENE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856811" y="2786529"/>
            <a:ext cx="9060480" cy="6471771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PARALLAX MULTI-LAYER ANIMATION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807107" y="2592259"/>
            <a:ext cx="9713721" cy="6666041"/>
          </a:xfrm>
          <a:custGeom>
            <a:avLst/>
            <a:gdLst/>
            <a:ahLst/>
            <a:cxnLst/>
            <a:rect r="r" b="b" t="t" l="l"/>
            <a:pathLst>
              <a:path h="6666041" w="9713721">
                <a:moveTo>
                  <a:pt x="0" y="0"/>
                </a:moveTo>
                <a:lnTo>
                  <a:pt x="9713721" y="0"/>
                </a:lnTo>
                <a:lnTo>
                  <a:pt x="9713721" y="6666041"/>
                </a:lnTo>
                <a:lnTo>
                  <a:pt x="0" y="666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PLANET SOLAR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968295" y="2786529"/>
            <a:ext cx="10354834" cy="6471771"/>
          </a:xfrm>
          <a:custGeom>
            <a:avLst/>
            <a:gdLst/>
            <a:ahLst/>
            <a:cxnLst/>
            <a:rect r="r" b="b" t="t" l="l"/>
            <a:pathLst>
              <a:path h="6471771" w="10354834">
                <a:moveTo>
                  <a:pt x="0" y="0"/>
                </a:moveTo>
                <a:lnTo>
                  <a:pt x="10354834" y="0"/>
                </a:lnTo>
                <a:lnTo>
                  <a:pt x="10354834" y="6471771"/>
                </a:lnTo>
                <a:lnTo>
                  <a:pt x="0" y="6471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SHADING COMPARISON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85810" y="6986937"/>
            <a:ext cx="51144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3638" y="6986937"/>
            <a:ext cx="12607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Gouraud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17493" y="6986937"/>
            <a:ext cx="90867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086532" y="3085173"/>
            <a:ext cx="6779338" cy="5049905"/>
          </a:xfrm>
          <a:custGeom>
            <a:avLst/>
            <a:gdLst/>
            <a:ahLst/>
            <a:cxnLst/>
            <a:rect r="r" b="b" t="t" l="l"/>
            <a:pathLst>
              <a:path h="5049905" w="6779338">
                <a:moveTo>
                  <a:pt x="0" y="0"/>
                </a:moveTo>
                <a:lnTo>
                  <a:pt x="6779338" y="0"/>
                </a:lnTo>
                <a:lnTo>
                  <a:pt x="6779338" y="5049905"/>
                </a:lnTo>
                <a:lnTo>
                  <a:pt x="0" y="504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00" t="-16966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11871" y="3025778"/>
            <a:ext cx="6939626" cy="5109300"/>
          </a:xfrm>
          <a:custGeom>
            <a:avLst/>
            <a:gdLst/>
            <a:ahLst/>
            <a:cxnLst/>
            <a:rect r="r" b="b" t="t" l="l"/>
            <a:pathLst>
              <a:path h="5109300" w="6939626">
                <a:moveTo>
                  <a:pt x="0" y="0"/>
                </a:moveTo>
                <a:lnTo>
                  <a:pt x="6939626" y="0"/>
                </a:lnTo>
                <a:lnTo>
                  <a:pt x="6939626" y="5109300"/>
                </a:lnTo>
                <a:lnTo>
                  <a:pt x="0" y="5109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MARBLE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37765" y="8649428"/>
            <a:ext cx="1276871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Fractal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27298" y="8649428"/>
            <a:ext cx="2908771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Texture Mapping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5058298" y="2786529"/>
            <a:ext cx="8858992" cy="664424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OTHER - 3D VIEW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5507752" y="2786529"/>
            <a:ext cx="7275920" cy="5659049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OTHER - HIERARCHICAL MODELING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307510" y="3030173"/>
            <a:ext cx="5676405" cy="5676405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OTHER - BEZIER SURFACE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693128" y="2818920"/>
            <a:ext cx="8901743" cy="6676308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370710" y="962025"/>
            <a:ext cx="954658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SHOW CASE 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9884" y="1689249"/>
            <a:ext cx="1234823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OTHER - PARTICLE SYSTEM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814615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REFLECTION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8904" y="4086777"/>
            <a:ext cx="12130193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Rasterization correctness is subtle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80616" y="4715574"/>
            <a:ext cx="12130193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Triangle + barycentric pipeline is more robust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Depth handling depends on use case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Incremental system design is critical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From using graphics → understanding pipeline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Software Rendering System</dc:description>
  <dc:identifier>DAHHzj7opgA</dc:identifier>
  <dcterms:modified xsi:type="dcterms:W3CDTF">2011-08-01T06:04:30Z</dcterms:modified>
  <cp:revision>1</cp:revision>
  <dc:title>Presentation - Software Rendering System</dc:title>
</cp:coreProperties>
</file>